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640080"/>
            <a:ext cx="8229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056132"/>
            <a:ext cx="82296" cy="329184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1472184"/>
            <a:ext cx="82296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1888236"/>
            <a:ext cx="82296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26680" y="2304288"/>
            <a:ext cx="82296" cy="329184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2720340"/>
            <a:ext cx="8229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3136392"/>
            <a:ext cx="82296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0" y="3552444"/>
            <a:ext cx="82296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3968496"/>
            <a:ext cx="82296" cy="329184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4384548"/>
            <a:ext cx="82296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6992" y="640080"/>
            <a:ext cx="18288" cy="4073652"/>
          </a:xfrm>
          <a:prstGeom prst="rect">
            <a:avLst/>
          </a:prstGeom>
          <a:solidFill>
            <a:srgbClr val="2330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621792"/>
            <a:ext cx="238201" cy="685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6861" y="621792"/>
            <a:ext cx="238201" cy="68580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5354" y="621792"/>
            <a:ext cx="238201" cy="6858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23848" y="621792"/>
            <a:ext cx="238201" cy="685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2341" y="621792"/>
            <a:ext cx="238201" cy="68580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00834" y="621792"/>
            <a:ext cx="238201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89327" y="621792"/>
            <a:ext cx="238201" cy="685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77820" y="621792"/>
            <a:ext cx="238201" cy="685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66314" y="621792"/>
            <a:ext cx="238201" cy="68580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54807" y="621792"/>
            <a:ext cx="238201" cy="6858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91440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Novel2Screenplay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658368" y="1773936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spc="150" kern="0" dirty="0">
                <a:solidFill>
                  <a:srgbClr val="B7C4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 小说转剧本工具 · 项目框架与运行链路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" y="2286000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7C8D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从叙事小说到结构化 YAML 剧本，再到短剧分镜的可视化生产链路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8368" y="2962656"/>
            <a:ext cx="1417320" cy="658368"/>
          </a:xfrm>
          <a:prstGeom prst="rect">
            <a:avLst/>
          </a:prstGeom>
          <a:solidFill>
            <a:srgbClr val="16203A"/>
          </a:solidFill>
          <a:ln w="12700">
            <a:solidFill>
              <a:srgbClr val="2633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25296" y="301752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阶段流水线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21992" y="2962656"/>
            <a:ext cx="1417320" cy="658368"/>
          </a:xfrm>
          <a:prstGeom prst="rect">
            <a:avLst/>
          </a:prstGeom>
          <a:solidFill>
            <a:srgbClr val="16203A"/>
          </a:solidFill>
          <a:ln w="12700">
            <a:solidFill>
              <a:srgbClr val="2633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2788920" y="301752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存储后端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85616" y="2962656"/>
            <a:ext cx="1417320" cy="658368"/>
          </a:xfrm>
          <a:prstGeom prst="rect">
            <a:avLst/>
          </a:prstGeom>
          <a:solidFill>
            <a:srgbClr val="16203A"/>
          </a:solidFill>
          <a:ln w="12700">
            <a:solidFill>
              <a:srgbClr val="2633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95344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352544" y="301752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角色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349240" y="2962656"/>
            <a:ext cx="1417320" cy="658368"/>
          </a:xfrm>
          <a:prstGeom prst="rect">
            <a:avLst/>
          </a:prstGeom>
          <a:solidFill>
            <a:srgbClr val="16203A"/>
          </a:solidFill>
          <a:ln w="12700">
            <a:solidFill>
              <a:srgbClr val="26334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58968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5916168" y="3017520"/>
            <a:ext cx="75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" y="40233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D6C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v0.2.0 · monorepo（Next.js 16 + React 19 + TypeScript 5）· SQLite / PostgreSQL 双后端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8368" y="4498848"/>
            <a:ext cx="315468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9556" y="4498848"/>
            <a:ext cx="315468" cy="50292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380744" y="4498848"/>
            <a:ext cx="315468" cy="50292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41932" y="4498848"/>
            <a:ext cx="31546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103120" y="4498848"/>
            <a:ext cx="315468" cy="50292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64308" y="4498848"/>
            <a:ext cx="315468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825496" y="4498848"/>
            <a:ext cx="315468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186684" y="4498848"/>
            <a:ext cx="315468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547872" y="4498848"/>
            <a:ext cx="315468" cy="50292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09060" y="4498848"/>
            <a:ext cx="315468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AILabel"/>
          <p:cNvSpPr txBox="1"/>
          <p:nvPr/>
        </p:nvSpPr>
        <p:spPr>
          <a:xfrm>
            <a:off x="6564000" y="45635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8193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84048" y="1042416"/>
            <a:ext cx="83759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042416"/>
            <a:ext cx="64008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04241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108813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项目概览与技术栈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94176" y="1042416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定位、核心业务流、技术选型与 monorepo 仓库结构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048" y="1691640"/>
            <a:ext cx="83759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691640"/>
            <a:ext cx="64008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16916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17373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系统分层架构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94176" y="1691640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展示层 / 接入层 / 编排层 / 智能层 / 领域层 / 基础层六层视图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340864"/>
            <a:ext cx="83759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" y="2340864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34086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97280" y="238658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模块地图与配色约定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94176" y="2340864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十个核心模块的代码位置、职责与配色标注规则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2990088"/>
            <a:ext cx="83759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990088"/>
            <a:ext cx="64008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29900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97280" y="303580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核心运行链路：四阶段流水线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94176" y="2990088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1→4 逐阶段输入输出、并发控制、容错与落库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" y="3639312"/>
            <a:ext cx="83759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3639312"/>
            <a:ext cx="640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363931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97280" y="36850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运行期横切机制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694176" y="3639312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推送 / 双后端存储 / Agent 编排 / LLM 路由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" y="4288536"/>
            <a:ext cx="83759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4288536"/>
            <a:ext cx="64008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" y="428853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97280" y="43342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spc="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工程质量与演进方向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94176" y="4288536"/>
            <a:ext cx="49011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四门禁、测试规模、容器化与已知限制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项目概览：把小说变成可拍的剧本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概览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50292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170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项目定位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1481328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用大语言模型把叙事小说转换为结构化 YAML 剧本（novel2screenplay-v1），并进一步拆分为短剧分镜（novel2drama-v1），提供可视化编辑、质量评测与多格式导出。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" y="2409444"/>
            <a:ext cx="68580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3500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四阶段流水线：分析 → 切割 → 并行转换 → 合并校验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" y="2592324"/>
            <a:ext cx="68580" cy="91440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化：状态机运行时 + 多 Agent 交接 + 质量关卡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" y="2775204"/>
            <a:ext cx="68580" cy="9144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7157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可在 SQLite / PostgreSQL 间探择的双后端存储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44568" y="1042416"/>
            <a:ext cx="4215384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44568" y="1042416"/>
            <a:ext cx="50292" cy="576072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088136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小说 → 剧本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44768" y="1088136"/>
            <a:ext cx="24323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上传解析 → 章节选择 → 四阶段流水线 → YAML 剧本 → 可视化编辑 → 导出（YAML / JSON / Excel）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44568" y="1691640"/>
            <a:ext cx="4215384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44568" y="1691640"/>
            <a:ext cx="50292" cy="576072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737360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CA8A0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剧本 → 短剧分镜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44768" y="1737360"/>
            <a:ext cx="24323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dramatize 引擎按规则拆分为分镜表，支持景别 / 运镜 / 时长编辑、统计面板与导出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44568" y="2340864"/>
            <a:ext cx="4215384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44568" y="2340864"/>
            <a:ext cx="50292" cy="57607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386584"/>
            <a:ext cx="1371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创作台 → 剧本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44768" y="2386584"/>
            <a:ext cx="24323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草稿 CRUD → AI 续写 / 扩写 / 改写 / 润色 → 物化转剧本，沉淀为小说资产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4048" y="3099816"/>
            <a:ext cx="1528877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099816"/>
            <a:ext cx="1528877" cy="50292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200400"/>
            <a:ext cx="15288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84048" y="3547872"/>
            <a:ext cx="1528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阶段流水线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95805" y="3099816"/>
            <a:ext cx="1528877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95805" y="3099816"/>
            <a:ext cx="1528877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95805" y="3200400"/>
            <a:ext cx="15288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2095805" y="3547872"/>
            <a:ext cx="1528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存储后端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07562" y="3099816"/>
            <a:ext cx="1528877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07562" y="3099816"/>
            <a:ext cx="1528877" cy="50292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07562" y="3200400"/>
            <a:ext cx="15288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B277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807562" y="3547872"/>
            <a:ext cx="1528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角色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19318" y="3099816"/>
            <a:ext cx="1528877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19318" y="3099816"/>
            <a:ext cx="1528877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9318" y="3200400"/>
            <a:ext cx="15288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9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519318" y="3547872"/>
            <a:ext cx="1528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业务数据表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31075" y="3099816"/>
            <a:ext cx="1528877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31075" y="3099816"/>
            <a:ext cx="1528877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31075" y="3200400"/>
            <a:ext cx="15288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8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7231075" y="3547872"/>
            <a:ext cx="152887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事件类型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技术栈与 monorepo 仓库结构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64748B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工程化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技术选型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71600"/>
            <a:ext cx="457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7160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89888" y="13716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16（App Router，webpack）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84048" y="182880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828800"/>
            <a:ext cx="4572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2880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 / UI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89888" y="18288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 5 + React 19 + Tailwind CSS 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4048" y="228600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286000"/>
            <a:ext cx="4572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8600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89888" y="22860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SQLite（better-sqlite3）· PostgreSQL 可选探择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74320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2743200"/>
            <a:ext cx="45720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274320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集成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89888" y="27432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自定义 LLM 抽象层：DeepSeek / OpenAI / 兼容 / Anthropic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" y="320040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200400"/>
            <a:ext cx="457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20040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89888" y="32004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+ zod 4 校验 + tiktoken 费用估算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4048" y="365760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657600"/>
            <a:ext cx="45720" cy="402336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65760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389888" y="36576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Vitest + Testing Library + MSW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" y="4114800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4114800"/>
            <a:ext cx="45720" cy="402336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" y="411480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89888" y="41148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workspaces + GitHub Actions CI + Docker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17136" y="10424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仓库结构（npm workspaces）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17136" y="1371600"/>
            <a:ext cx="4242816" cy="32004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1499616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novel2screenplay/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18304" y="1730959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apps/screenplay/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8304" y="1962302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src/{app, components, lib}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18304" y="2193646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packages/contracts/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18304" y="2424989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zod 契约 + 序列化器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18304" y="2656332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packages/db/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18304" y="2887675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DbEngine 双后端 + 迁移脚本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18304" y="3119018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docs/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18304" y="3350362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项目框架 / 方案与决策记录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18304" y="3581705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.github/workflows/ci.yml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18304" y="3813048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Dockerfile + docker-compose.yml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18304" y="4044391"/>
            <a:ext cx="387705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package.json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17136" y="466344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prebuild / pretypecheck / pretest 会先构建 @novel/contracts 与 @novel/db —— 契约先行，改动契约必须重建后再跑类型检查与测试。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系统分层架构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架构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4241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展示层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084832" y="1042416"/>
            <a:ext cx="6675120" cy="548640"/>
          </a:xfrm>
          <a:prstGeom prst="rect">
            <a:avLst/>
          </a:prstGeom>
          <a:solidFill>
            <a:srgbClr val="2563EB">
              <a:alpha val="8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060704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 8 个：/upload /configure /convert /result /shortdrama /writer /history /debug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2194560" y="1316736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组件：ProgressTracker · SceneEditor · SceneCompare · FlowDebugClient · RequireAuth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84048" y="1659636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65963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接入层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084832" y="1659636"/>
            <a:ext cx="6675120" cy="548640"/>
          </a:xfrm>
          <a:prstGeom prst="rect">
            <a:avLst/>
          </a:prstGeom>
          <a:solidFill>
            <a:srgbClr val="0284C7">
              <a:alpha val="8000"/>
            </a:srgbClr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677924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/api/pipeline · /api/jobs · /api/result · /api/drama · /api/writer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194560" y="1933956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/api/agent · /api/llm · /api/auth · /api/debug · /api/health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384048" y="2276856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27685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编排层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084832" y="2276856"/>
            <a:ext cx="6675120" cy="548640"/>
          </a:xfrm>
          <a:prstGeom prst="rect">
            <a:avLst/>
          </a:prstGeom>
          <a:solidFill>
            <a:srgbClr val="EA580C">
              <a:alpha val="8000"/>
            </a:srgbClr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2295144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PipelineEngine：Phase1 分析 → Phase2 切割 → Phase3 并行转换 → Phase4 合并校验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194560" y="2551176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PipelineExecutor 桥接 + jobStore 单一执行主线（无内存队列）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384048" y="2894076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89407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智能层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084832" y="2894076"/>
            <a:ext cx="6675120" cy="548640"/>
          </a:xfrm>
          <a:prstGeom prst="rect">
            <a:avLst/>
          </a:prstGeom>
          <a:solidFill>
            <a:srgbClr val="7C3AED">
              <a:alpha val="8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2912364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LLM：BaseProvider → DeepSeek / OpenAI / CustomOpenAI / CustomAnthropic · ModelRouter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194560" y="3168396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Agent：AgentCore 状态机 · MultiAgentOrchestrator · HandoffProtocol · ReviewGate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384048" y="3511296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51129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领域层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084832" y="3511296"/>
            <a:ext cx="6675120" cy="548640"/>
          </a:xfrm>
          <a:prstGeom prst="rect">
            <a:avLst/>
          </a:prstGeom>
          <a:solidFill>
            <a:srgbClr val="0D9488">
              <a:alpha val="8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3529584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@novel/contracts：novel · screenplay · drama · pipeline 契约 + 序列化器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2194560" y="3785616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 解析器 · preprocess 清洗 · drama 分镜引擎 · eval 评测 · result 修订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384048" y="4128516"/>
            <a:ext cx="1572768" cy="548640"/>
          </a:xfrm>
          <a:prstGeom prst="roundRect">
            <a:avLst>
              <a:gd name="adj" fmla="val 11667"/>
            </a:avLst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128516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基础层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084832" y="4128516"/>
            <a:ext cx="6675120" cy="548640"/>
          </a:xfrm>
          <a:prstGeom prst="rect">
            <a:avLst/>
          </a:prstGeom>
          <a:solidFill>
            <a:srgbClr val="16A34A">
              <a:alpha val="8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4146804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@novel/db：DbEngine（SQLite / PG 桥）· 9 张业务表 repository（按 userId 隔离）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2194560" y="4402836"/>
            <a:ext cx="6455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client manager · 工具注册表 · logger / safe-json · 认证会话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168896" y="102412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横切链路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68896" y="1298448"/>
            <a:ext cx="1591056" cy="914400"/>
          </a:xfrm>
          <a:prstGeom prst="roundRect">
            <a:avLst>
              <a:gd name="adj" fmla="val 6000"/>
            </a:avLst>
          </a:prstGeom>
          <a:solidFill>
            <a:srgbClr val="DC2626">
              <a:alpha val="14000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68896" y="1298448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实时链路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68896" y="2295144"/>
            <a:ext cx="1591056" cy="1371600"/>
          </a:xfrm>
          <a:prstGeom prst="roundRect">
            <a:avLst>
              <a:gd name="adj" fmla="val 4000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68896" y="2295144"/>
            <a:ext cx="1591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调用链路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68896" y="3749040"/>
            <a:ext cx="1591056" cy="914400"/>
          </a:xfrm>
          <a:prstGeom prst="roundRect">
            <a:avLst>
              <a:gd name="adj" fmla="val 6000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68896" y="374904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持久化链路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" y="4764024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依赖方向自上而下，禁止反向依赖；业务逻辑统一收敛在 lib，页面与路由保持薄。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模块配色约定（全篇统一标注）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图例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1558138" cy="685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170432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2563E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页面与组件层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12064" y="1481328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 · src/components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828800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页面渲染、交互组件、SSE/轮询降级消费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088490" y="1042416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88490" y="1042416"/>
            <a:ext cx="1558138" cy="68580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6506" y="1170432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284C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API 路由层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16506" y="1481328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src/app/api/**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216506" y="1828800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薄路由：zod 参数校验 → 调 lib → 返回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3792931" y="1042416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2931" y="1042416"/>
            <a:ext cx="1558138" cy="6858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20947" y="1170432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转换流水线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20947" y="1481328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lib/pipeline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20947" y="1828800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四阶段编排：分析→切割→转换→合并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497373" y="1042416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7373" y="1042416"/>
            <a:ext cx="1558138" cy="685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25389" y="1170432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7C3AE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LLM 抽象层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25389" y="1481328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625389" y="1828800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抽象、模型路由、用户级 LLM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201814" y="1042416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1814" y="1042416"/>
            <a:ext cx="1558138" cy="68580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9830" y="1170432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B277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多智能体编排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29830" y="1481328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lib/agent · lib/multi-agent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29830" y="1828800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AgentCore 状态机 + 交接协议 + 质量关卡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84048" y="2944368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" y="2944368"/>
            <a:ext cx="1558138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3072384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0D948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数据契约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12064" y="3383280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packages/contracts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" y="3730752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zod4 契约：novel/screenplay/drama/pipeline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088490" y="2944368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088490" y="2944368"/>
            <a:ext cx="1558138" cy="685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16506" y="3072384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存储层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2216506" y="3383280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packages/db · lib/store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16506" y="3730752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双后端 DbEngine + repository（按 userId 隔离）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792931" y="2944368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2931" y="2944368"/>
            <a:ext cx="1558138" cy="685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20947" y="3072384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实时推送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3920947" y="3383280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lib/sse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20947" y="3730752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多客户端 SSE：心跳、重连、事件广播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497373" y="2944368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97373" y="2944368"/>
            <a:ext cx="1558138" cy="68580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25389" y="3072384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CA8A0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评测与调试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625389" y="3383280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lib/eval · lib/debug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625389" y="3730752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四维评分 + LLM 质量评估 + 质量基准集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7201814" y="2944368"/>
            <a:ext cx="155813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01814" y="2944368"/>
            <a:ext cx="1558138" cy="6858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29830" y="3072384"/>
            <a:ext cx="130210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工程化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329830" y="3383280"/>
            <a:ext cx="13021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 · Docker · scripts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329830" y="3730752"/>
            <a:ext cx="13021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 四门禁 + 容器化 + 迁移/校验脚本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384048" y="4572000"/>
            <a:ext cx="8375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后续每页标题右侧的模块标签、架构图与流程图中的色块，均沿用本页配色，便于跨页快速定位模块归属。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应用模块地图：页面 → API → 核心代码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0284C7"/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应用级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2670048" cy="7772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页面（src/app）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条业务路由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792224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2563EB">
              <a:alpha val="9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8196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/upload 上传解析 · /configure 章节+模型+费用预估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530352" y="2395728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2563EB">
              <a:alpha val="9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/convert 四阶段进度（SSE）· /result/[id] 对照与编辑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530352" y="2999232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2563EB">
              <a:alpha val="9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026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/shortdrama 分镜表 · /writer 创作台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30352" y="3602736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2563EB">
              <a:alpha val="9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630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/history 服务端历史 · /debug 流水线与评测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236976" y="1042416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36976" y="1042416"/>
            <a:ext cx="2670048" cy="77724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API 路由（src/app/api）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个分组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1792224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0284C7">
              <a:alpha val="9000"/>
            </a:srgbClr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8196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pipeline：start / status / stream / cancel / resume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383280" y="2395728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0284C7">
              <a:alpha val="9000"/>
            </a:srgbClr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0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jobs：列表 · 详情 · events(SSE) · history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3383280" y="2999232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0284C7">
              <a:alpha val="9000"/>
            </a:srgbClr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026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/ novels / import · drama 转换 · writer 章节与 AI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3383280" y="3602736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0284C7">
              <a:alpha val="9000"/>
            </a:srgbClr>
          </a:solidFill>
          <a:ln w="6350">
            <a:solidFill>
              <a:srgbClr val="0284C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630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编排 · llm 用户级密钥 · auth 会话 · debug 评测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6089904" y="1042416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1042416"/>
            <a:ext cx="2670048" cy="7772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207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核心模块（src/lib）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14813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按模块色分类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36208" y="1792224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EA580C">
              <a:alpha val="9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27648" y="18196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四阶段引擎 · jobs 共享任务类型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6236208" y="2395728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EA580C">
              <a:alpha val="9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2423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Provider 与路由 · agent / multi-agent 编排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6236208" y="2999232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EA580C">
              <a:alpha val="9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02666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 解析 · drama 分镜 · eval 质量评测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6236208" y="3602736"/>
            <a:ext cx="2377440" cy="512064"/>
          </a:xfrm>
          <a:prstGeom prst="roundRect">
            <a:avLst>
              <a:gd name="adj" fmla="val 8929"/>
            </a:avLst>
          </a:prstGeom>
          <a:solidFill>
            <a:srgbClr val="EA580C">
              <a:alpha val="9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3630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推送 · store repository · utils 日志与容错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384048" y="44256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跨层数据流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35608" y="4425696"/>
            <a:ext cx="1007364" cy="27432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35608" y="4425696"/>
            <a:ext cx="1007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</a:t>
            </a:r>
            <a:endParaRPr lang="en-US" sz="860" dirty="0"/>
          </a:p>
        </p:txBody>
      </p:sp>
      <p:sp>
        <p:nvSpPr>
          <p:cNvPr id="45" name="Shape 43"/>
          <p:cNvSpPr/>
          <p:nvPr/>
        </p:nvSpPr>
        <p:spPr>
          <a:xfrm>
            <a:off x="2479548" y="4562856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2699004" y="4425696"/>
            <a:ext cx="1007364" cy="274320"/>
          </a:xfrm>
          <a:prstGeom prst="roundRect">
            <a:avLst>
              <a:gd name="adj" fmla="val 20000"/>
            </a:avLst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9004" y="4425696"/>
            <a:ext cx="1007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路由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3742944" y="4562856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962400" y="4425696"/>
            <a:ext cx="1007364" cy="27432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62400" y="4425696"/>
            <a:ext cx="1007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 业务逻辑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5006340" y="4562856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225796" y="4425696"/>
            <a:ext cx="1007364" cy="27432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25796" y="4425696"/>
            <a:ext cx="1007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契约校验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6269736" y="4562856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489192" y="4425696"/>
            <a:ext cx="1007364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89192" y="4425696"/>
            <a:ext cx="1007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</a:t>
            </a:r>
            <a:endParaRPr lang="en-US" sz="860" dirty="0"/>
          </a:p>
        </p:txBody>
      </p:sp>
      <p:sp>
        <p:nvSpPr>
          <p:cNvPr id="57" name="Shape 55"/>
          <p:cNvSpPr/>
          <p:nvPr/>
        </p:nvSpPr>
        <p:spPr>
          <a:xfrm>
            <a:off x="7533132" y="4562856"/>
            <a:ext cx="18288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752588" y="4425696"/>
            <a:ext cx="1007364" cy="27432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2588" y="4425696"/>
            <a:ext cx="1007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/ PG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端到端运行链路总览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运行链路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42416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用户·前端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463040" y="1042416"/>
            <a:ext cx="1283818" cy="548640"/>
          </a:xfrm>
          <a:prstGeom prst="roundRect">
            <a:avLst>
              <a:gd name="adj" fmla="val 10000"/>
            </a:avLst>
          </a:prstGeom>
          <a:solidFill>
            <a:srgbClr val="2563EB">
              <a:alpha val="14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042416"/>
            <a:ext cx="128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/ 粘贴小说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774290" y="1316736"/>
            <a:ext cx="16459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66314" y="1042416"/>
            <a:ext cx="1283818" cy="548640"/>
          </a:xfrm>
          <a:prstGeom prst="roundRect">
            <a:avLst>
              <a:gd name="adj" fmla="val 10000"/>
            </a:avLst>
          </a:prstGeom>
          <a:solidFill>
            <a:srgbClr val="2563EB">
              <a:alpha val="14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66314" y="1042416"/>
            <a:ext cx="128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章节解析与选择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277563" y="1316736"/>
            <a:ext cx="16459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469587" y="1042416"/>
            <a:ext cx="1283818" cy="548640"/>
          </a:xfrm>
          <a:prstGeom prst="roundRect">
            <a:avLst>
              <a:gd name="adj" fmla="val 10000"/>
            </a:avLst>
          </a:prstGeom>
          <a:solidFill>
            <a:srgbClr val="2563EB">
              <a:alpha val="14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69587" y="1042416"/>
            <a:ext cx="128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模型与费用预估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780837" y="1316736"/>
            <a:ext cx="16459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72861" y="1042416"/>
            <a:ext cx="1283818" cy="548640"/>
          </a:xfrm>
          <a:prstGeom prst="roundRect">
            <a:avLst>
              <a:gd name="adj" fmla="val 10000"/>
            </a:avLst>
          </a:prstGeom>
          <a:solidFill>
            <a:srgbClr val="2563EB">
              <a:alpha val="14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72861" y="1042416"/>
            <a:ext cx="128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订阅 SSE 进度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284110" y="1316736"/>
            <a:ext cx="164592" cy="0"/>
          </a:xfrm>
          <a:prstGeom prst="line">
            <a:avLst/>
          </a:prstGeom>
          <a:noFill/>
          <a:ln w="1397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76134" y="1042416"/>
            <a:ext cx="1283818" cy="548640"/>
          </a:xfrm>
          <a:prstGeom prst="roundRect">
            <a:avLst>
              <a:gd name="adj" fmla="val 10000"/>
            </a:avLst>
          </a:prstGeom>
          <a:solidFill>
            <a:srgbClr val="2563EB">
              <a:alpha val="14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6134" y="1042416"/>
            <a:ext cx="12838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结果页编辑导出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384048" y="1755648"/>
            <a:ext cx="960120" cy="932688"/>
          </a:xfrm>
          <a:prstGeom prst="roundRect">
            <a:avLst>
              <a:gd name="adj" fmla="val 5882"/>
            </a:avLst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1755648"/>
            <a:ext cx="960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63040" y="1755648"/>
            <a:ext cx="160477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1755648"/>
            <a:ext cx="160477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54480" y="1847088"/>
            <a:ext cx="1421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Phase 1 分析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554480" y="2121408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→ 25%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554480" y="2359152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/ 地点 / 设定卡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3122676" y="2221992"/>
            <a:ext cx="18288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360420" y="1755648"/>
            <a:ext cx="160477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60420" y="1755648"/>
            <a:ext cx="160477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1860" y="1847088"/>
            <a:ext cx="1421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Phase 2 切割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51860" y="2121408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→ 45%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451860" y="2359152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 → 场景边界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5020056" y="2221992"/>
            <a:ext cx="18288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257800" y="1755648"/>
            <a:ext cx="160477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1755648"/>
            <a:ext cx="160477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49240" y="1847088"/>
            <a:ext cx="1421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Phase 3 转换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49240" y="2121408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→ 75%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49240" y="2359152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并行生成场景稿件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6917436" y="2221992"/>
            <a:ext cx="18288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155180" y="1755648"/>
            <a:ext cx="1604772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55180" y="1755648"/>
            <a:ext cx="1604772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46620" y="1847088"/>
            <a:ext cx="14218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Phase 4 合并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46620" y="2121408"/>
            <a:ext cx="14218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B12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→ 100%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46620" y="2359152"/>
            <a:ext cx="142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去重 / 溯源 / 统计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384048" y="283464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28346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智能层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463040" y="28346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63040" y="2834640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resolveProvider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2774290" y="3063240"/>
            <a:ext cx="164592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2966314" y="28346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66314" y="2834640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ModelRouter 路由</a:t>
            </a:r>
            <a:endParaRPr lang="en-US" sz="840" dirty="0"/>
          </a:p>
        </p:txBody>
      </p:sp>
      <p:sp>
        <p:nvSpPr>
          <p:cNvPr id="54" name="Shape 52"/>
          <p:cNvSpPr/>
          <p:nvPr/>
        </p:nvSpPr>
        <p:spPr>
          <a:xfrm>
            <a:off x="4277563" y="3063240"/>
            <a:ext cx="164592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469587" y="28346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69587" y="2834640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调用</a:t>
            </a:r>
            <a:endParaRPr lang="en-US" sz="840" dirty="0"/>
          </a:p>
        </p:txBody>
      </p:sp>
      <p:sp>
        <p:nvSpPr>
          <p:cNvPr id="57" name="Shape 55"/>
          <p:cNvSpPr/>
          <p:nvPr/>
        </p:nvSpPr>
        <p:spPr>
          <a:xfrm>
            <a:off x="5780837" y="3063240"/>
            <a:ext cx="164592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972861" y="28346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72861" y="2834640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safe-json 解析</a:t>
            </a:r>
            <a:endParaRPr lang="en-US" sz="840" dirty="0"/>
          </a:p>
        </p:txBody>
      </p:sp>
      <p:sp>
        <p:nvSpPr>
          <p:cNvPr id="60" name="Shape 58"/>
          <p:cNvSpPr/>
          <p:nvPr/>
        </p:nvSpPr>
        <p:spPr>
          <a:xfrm>
            <a:off x="7284110" y="3063240"/>
            <a:ext cx="164592" cy="0"/>
          </a:xfrm>
          <a:prstGeom prst="line">
            <a:avLst/>
          </a:prstGeom>
          <a:noFill/>
          <a:ln w="1397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7476134" y="2834640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7C3AED">
              <a:alpha val="14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76134" y="2834640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质量评估</a:t>
            </a:r>
            <a:endParaRPr lang="en-US" sz="840" dirty="0"/>
          </a:p>
        </p:txBody>
      </p:sp>
      <p:sp>
        <p:nvSpPr>
          <p:cNvPr id="63" name="Shape 61"/>
          <p:cNvSpPr/>
          <p:nvPr/>
        </p:nvSpPr>
        <p:spPr>
          <a:xfrm>
            <a:off x="384048" y="3438144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" y="3438144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存储层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463040" y="3438144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63040" y="3438144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jobStore.create 落库</a:t>
            </a:r>
            <a:endParaRPr lang="en-US" sz="840" dirty="0"/>
          </a:p>
        </p:txBody>
      </p:sp>
      <p:sp>
        <p:nvSpPr>
          <p:cNvPr id="67" name="Shape 65"/>
          <p:cNvSpPr/>
          <p:nvPr/>
        </p:nvSpPr>
        <p:spPr>
          <a:xfrm>
            <a:off x="2774290" y="3666744"/>
            <a:ext cx="164592" cy="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2966314" y="3438144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66314" y="3438144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每阶段 update 快照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4277563" y="3666744"/>
            <a:ext cx="164592" cy="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4469587" y="3438144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69587" y="3438144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表 repository</a:t>
            </a:r>
            <a:endParaRPr lang="en-US" sz="840" dirty="0"/>
          </a:p>
        </p:txBody>
      </p:sp>
      <p:sp>
        <p:nvSpPr>
          <p:cNvPr id="73" name="Shape 71"/>
          <p:cNvSpPr/>
          <p:nvPr/>
        </p:nvSpPr>
        <p:spPr>
          <a:xfrm>
            <a:off x="5780837" y="3666744"/>
            <a:ext cx="164592" cy="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5972861" y="3438144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72861" y="3438144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/ PostgreSQL</a:t>
            </a:r>
            <a:endParaRPr lang="en-US" sz="840" dirty="0"/>
          </a:p>
        </p:txBody>
      </p:sp>
      <p:sp>
        <p:nvSpPr>
          <p:cNvPr id="76" name="Shape 74"/>
          <p:cNvSpPr/>
          <p:nvPr/>
        </p:nvSpPr>
        <p:spPr>
          <a:xfrm>
            <a:off x="7284110" y="3666744"/>
            <a:ext cx="164592" cy="0"/>
          </a:xfrm>
          <a:prstGeom prst="line">
            <a:avLst/>
          </a:prstGeom>
          <a:noFill/>
          <a:ln w="1397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476134" y="3438144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76134" y="3438144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history + 版本行</a:t>
            </a:r>
            <a:endParaRPr lang="en-US" sz="840" dirty="0"/>
          </a:p>
        </p:txBody>
      </p:sp>
      <p:sp>
        <p:nvSpPr>
          <p:cNvPr id="79" name="Shape 77"/>
          <p:cNvSpPr/>
          <p:nvPr/>
        </p:nvSpPr>
        <p:spPr>
          <a:xfrm>
            <a:off x="384048" y="4041648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84048" y="4041648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实时推送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463040" y="4041648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DC2626">
              <a:alpha val="14000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463040" y="4041648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 / progress / phase</a:t>
            </a:r>
            <a:endParaRPr lang="en-US" sz="840" dirty="0"/>
          </a:p>
        </p:txBody>
      </p:sp>
      <p:sp>
        <p:nvSpPr>
          <p:cNvPr id="83" name="Shape 81"/>
          <p:cNvSpPr/>
          <p:nvPr/>
        </p:nvSpPr>
        <p:spPr>
          <a:xfrm>
            <a:off x="2774290" y="4270248"/>
            <a:ext cx="164592" cy="0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2966314" y="4041648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DC2626">
              <a:alpha val="14000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966314" y="4041648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 / heartbeat</a:t>
            </a:r>
            <a:endParaRPr lang="en-US" sz="840" dirty="0"/>
          </a:p>
        </p:txBody>
      </p:sp>
      <p:sp>
        <p:nvSpPr>
          <p:cNvPr id="86" name="Shape 84"/>
          <p:cNvSpPr/>
          <p:nvPr/>
        </p:nvSpPr>
        <p:spPr>
          <a:xfrm>
            <a:off x="4277563" y="4270248"/>
            <a:ext cx="164592" cy="0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4469587" y="4041648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DC2626">
              <a:alpha val="14000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69587" y="4041648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 / error</a:t>
            </a:r>
            <a:endParaRPr lang="en-US" sz="840" dirty="0"/>
          </a:p>
        </p:txBody>
      </p:sp>
      <p:sp>
        <p:nvSpPr>
          <p:cNvPr id="89" name="Shape 87"/>
          <p:cNvSpPr/>
          <p:nvPr/>
        </p:nvSpPr>
        <p:spPr>
          <a:xfrm>
            <a:off x="5780837" y="4270248"/>
            <a:ext cx="164592" cy="0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5972861" y="4041648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DC2626">
              <a:alpha val="14000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972861" y="4041648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质量评分</a:t>
            </a:r>
            <a:endParaRPr lang="en-US" sz="840" dirty="0"/>
          </a:p>
        </p:txBody>
      </p:sp>
      <p:sp>
        <p:nvSpPr>
          <p:cNvPr id="92" name="Shape 90"/>
          <p:cNvSpPr/>
          <p:nvPr/>
        </p:nvSpPr>
        <p:spPr>
          <a:xfrm>
            <a:off x="7284110" y="4270248"/>
            <a:ext cx="164592" cy="0"/>
          </a:xfrm>
          <a:prstGeom prst="line">
            <a:avLst/>
          </a:prstGeom>
          <a:noFill/>
          <a:ln w="1397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7476134" y="4041648"/>
            <a:ext cx="1283818" cy="457200"/>
          </a:xfrm>
          <a:prstGeom prst="roundRect">
            <a:avLst>
              <a:gd name="adj" fmla="val 12000"/>
            </a:avLst>
          </a:prstGeom>
          <a:solidFill>
            <a:srgbClr val="DC2626">
              <a:alpha val="14000"/>
            </a:srgbClr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476134" y="4041648"/>
            <a:ext cx="128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多客户端 + 断线重连</a:t>
            </a:r>
            <a:endParaRPr lang="en-US" sz="840" dirty="0"/>
          </a:p>
        </p:txBody>
      </p:sp>
      <p:sp>
        <p:nvSpPr>
          <p:cNvPr id="95" name="Shape 93"/>
          <p:cNvSpPr/>
          <p:nvPr/>
        </p:nvSpPr>
        <p:spPr>
          <a:xfrm>
            <a:off x="1965960" y="1609344"/>
            <a:ext cx="0" cy="128016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1965960" y="2706624"/>
            <a:ext cx="0" cy="109728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1965960" y="3931920"/>
            <a:ext cx="0" cy="91440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8" name="Text 96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运行链路 ① Phase 1 · 分析角色与地点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流水线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26578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2657856" cy="77724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88720"/>
            <a:ext cx="2365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284C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输入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609344"/>
            <a:ext cx="64008" cy="91440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1527048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选中章节列表（index / title / text）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0352" y="2176272"/>
            <a:ext cx="64008" cy="91440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2093976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预处理清洗后的正文（盗版水印、广告、章尾引导、乱码移除）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0352" y="2743200"/>
            <a:ext cx="64008" cy="91440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2660904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可选：复用来源任务的设定卡（跳过本次 LLM 分析）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43072" y="1042416"/>
            <a:ext cx="26578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3072" y="1042416"/>
            <a:ext cx="2657856" cy="7772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9376" y="1188720"/>
            <a:ext cx="2365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处理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9376" y="1609344"/>
            <a:ext cx="64008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5680" y="1527048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章节级 map：逐章抽取角色、地点、时间线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9376" y="2176272"/>
            <a:ext cx="64008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5680" y="2093976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truncate / mapreduce 双模式，由 resolveDefaultPhase1Mode() 单一决策点收敛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9376" y="2743200"/>
            <a:ext cx="64008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5680" y="2660904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名称冲突消解 + reduce 归并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9376" y="3310128"/>
            <a:ext cx="64008" cy="9144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5680" y="3227832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预算守卫 createPhase1Budget 接到 map / reduce / truncate 三处调用点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02096" y="1042416"/>
            <a:ext cx="26578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02096" y="1042416"/>
            <a:ext cx="2657856" cy="77724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48400" y="1188720"/>
            <a:ext cx="2365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0D948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输出与增强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48400" y="1609344"/>
            <a:ext cx="6400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4704" y="1527048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Phase1Output：characters · locations · settingCard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48400" y="2176272"/>
            <a:ext cx="6400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4704" y="2093976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用户设定融合：用户 &gt; 原文，差异记 conflict 不静默覆盖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48400" y="2743200"/>
            <a:ext cx="64008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4704" y="2660904"/>
            <a:ext cx="22006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10 → 25%，产物随 pipelineState 落库并推送 SSE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84048" y="4014216"/>
            <a:ext cx="8375904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4014216"/>
            <a:ext cx="50292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4069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关键设计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435608" y="4069080"/>
            <a:ext cx="7095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翻默认唯一触发器是数据门槛：决策规则固化在 eval/flip-decision（稳定性方差不裁决 / Δ_tail 须大于 judge 噪声带 / 尾段差达标且总分不劣才翻），门槛未过前保持 truncate 模式。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运行链路 ② Phase 2 · 场景切割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流水线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181965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1819656" cy="68580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18872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章节正文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1517904"/>
            <a:ext cx="1563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选中章节的原文段落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2276856" y="1572768"/>
            <a:ext cx="219456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9464" y="1042416"/>
            <a:ext cx="181965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9464" y="1042416"/>
            <a:ext cx="1819656" cy="6858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18872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场景边界识别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1517904"/>
            <a:ext cx="1563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地点变化 / 时间跳跃 / 冲突起止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462272" y="1572768"/>
            <a:ext cx="219456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54880" y="1042416"/>
            <a:ext cx="181965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42416"/>
            <a:ext cx="1819656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118872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场景定义输出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2896" y="1517904"/>
            <a:ext cx="1563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sceneIndex · location · time · 涉及角色 · 情感基调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6647688" y="1572768"/>
            <a:ext cx="219456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940296" y="1042416"/>
            <a:ext cx="181965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0296" y="1042416"/>
            <a:ext cx="1819656" cy="6858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8312" y="1188720"/>
            <a:ext cx="1563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Phase3 待转列表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68312" y="1517904"/>
            <a:ext cx="1563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scenes[] 进入并行转换队列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384048" y="2340864"/>
            <a:ext cx="408736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2340864"/>
            <a:ext cx="45720" cy="85953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243230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依赖 Phase 1 产物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65376" y="239572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角色与地点清单作为切割先验，避免把同一地点切成多个场景；场景编号全局连续，供 Phase 3 并行与 Phase 4 排序共用。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72584" y="2340864"/>
            <a:ext cx="408736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72584" y="2340864"/>
            <a:ext cx="45720" cy="859536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2432304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章节级容错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53912" y="239572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单章切割失败不阻断整体：记录告警、按章边界回退为「一章一场景」的粗粒度结果，由后续阶段细化。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" y="3310128"/>
            <a:ext cx="408736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" y="3310128"/>
            <a:ext cx="45720" cy="859536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4015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进度与留痕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65376" y="336499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 30% → 完成 45%；sceneDefs 随 pipelineState 落库，SSE phase / progress / log 三类事件同步推送。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72584" y="3310128"/>
            <a:ext cx="4087368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72584" y="3310128"/>
            <a:ext cx="45720" cy="859536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55464" y="340156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为并行做准备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53912" y="336499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每个场景携带 sourceChapterIndex，Phase 3 据此裁剪上下文（只注入该场景相关角色与地点），Prompt 体积显著下降。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运行链路 ③ Phase 3 · 并行场景转换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流水线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并发与限流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7160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71600"/>
            <a:ext cx="4572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信号量 ·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并发上限，避免打爆上游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384048" y="1938528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938528"/>
            <a:ext cx="457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38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Token Bucket · 50 req/min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1938528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令牌桶限流，平滑请求峰值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84048" y="2505456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505456"/>
            <a:ext cx="457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0545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重试 · 3 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505456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指数退避重试，失败场景降级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384048" y="3072384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072384"/>
            <a:ext cx="45720" cy="502920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7238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degradedScene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3072384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降级输出保留场景骨架，不中断整体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4517136" y="10424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Token 优化与输出防护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17136" y="1371600"/>
            <a:ext cx="424281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17136" y="1371600"/>
            <a:ext cx="4572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426464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上下文裁剪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0016" y="164592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keyCharacterNames / sourceChapterIndex 过滤角色与地点上下文，convert-scene Prompt 精简约 50%；tiktoken 编码器单例化复用。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17136" y="2130552"/>
            <a:ext cx="424281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7136" y="2130552"/>
            <a:ext cx="45720" cy="694944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0016" y="2185416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四层降级解析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00016" y="2404872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safe-json：严格 JSON → 修复尾逗号 → 提取代码块 → 正则兜底；附带截断检测，避免半截 YAML 混入产物。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17136" y="2889504"/>
            <a:ext cx="424281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17136" y="2889504"/>
            <a:ext cx="45720" cy="694944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294436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B277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防幻觉约束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00016" y="3163824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只允许写可见可听动作；对白必须源于原文，禁止编造情节与人物关系。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17136" y="3648456"/>
            <a:ext cx="424281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17136" y="3648456"/>
            <a:ext cx="45720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370332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逐场景落库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00016" y="392277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每场景独立状态写入 scenesStatus[]，失败场景可被 resume 精确重跑，无需重跑全量。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" y="3675888"/>
            <a:ext cx="8375904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3675888"/>
            <a:ext cx="8375904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767328"/>
            <a:ext cx="8010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 50% → 75%；每个场景稿件带 confidence 与 sourceRefs 溯源片段，confidence ≤ 0.5 的场景在结果页标黄提示。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运行链路 ④ Phase 4 · 合并校验与落库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流水线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1484986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1484986" cy="6858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07008"/>
            <a:ext cx="1265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场景排序与去重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" y="1700784"/>
            <a:ext cx="12655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sceneIndex 归位，合并重复场景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1905610" y="1682496"/>
            <a:ext cx="164592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06778" y="1042416"/>
            <a:ext cx="1484986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6778" y="1042416"/>
            <a:ext cx="1484986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6506" y="1207008"/>
            <a:ext cx="1265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ID 归一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16506" y="1700784"/>
            <a:ext cx="12655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/ 地点别名归一，统一引用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628339" y="1682496"/>
            <a:ext cx="164592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29507" y="1042416"/>
            <a:ext cx="1484986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29507" y="1042416"/>
            <a:ext cx="1484986" cy="68580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9235" y="1207008"/>
            <a:ext cx="1265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溯源绑定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9235" y="1700784"/>
            <a:ext cx="12655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sourceRefs 关联原文段落与 excerpt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5351069" y="1682496"/>
            <a:ext cx="164592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52237" y="1042416"/>
            <a:ext cx="1484986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52237" y="1042416"/>
            <a:ext cx="1484986" cy="68580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1965" y="1207008"/>
            <a:ext cx="1265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统计计算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1965" y="1700784"/>
            <a:ext cx="12655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对白 / 动作占比、场景 / 角色 / 地点计数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7073798" y="1682496"/>
            <a:ext cx="164592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74966" y="1042416"/>
            <a:ext cx="1484986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4966" y="1042416"/>
            <a:ext cx="1484986" cy="685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4694" y="1207008"/>
            <a:ext cx="12655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自动修正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84694" y="1700784"/>
            <a:ext cx="12655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fixes[] 记录全部修正项，随完成事件回传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84048" y="2468880"/>
            <a:ext cx="26578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2468880"/>
            <a:ext cx="2657856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596896"/>
            <a:ext cx="2328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任务产物落库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2907792"/>
            <a:ext cx="2328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phase4Output 写回 jobStore（pipelineState），状态置 completed、progress 100、resultId 指向剧本标题，SSE 推送 complete。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3243072" y="2468880"/>
            <a:ext cx="26578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43072" y="2468880"/>
            <a:ext cx="2657856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7664" y="2596896"/>
            <a:ext cx="2328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归档与版本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07664" y="2907792"/>
            <a:ext cx="2328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history 表写入 YAML 快照与统计；novel 资产标记已转换章节；novel_version 记录 formatVersion 与 promptHash 供版本对比。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6102096" y="2468880"/>
            <a:ext cx="265785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02096" y="2468880"/>
            <a:ext cx="2657856" cy="6400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6688" y="2596896"/>
            <a:ext cx="2328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LLM 质量评估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6688" y="2907792"/>
            <a:ext cx="2328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87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异步对最终剧本四维打分（format / consistency / coherence / drama），结果持久化到 pipelineState 并通过 SSE quality 事件推送。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384048" y="3986784"/>
            <a:ext cx="8375904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3986784"/>
            <a:ext cx="50292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3986784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453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终态：completed 100% → SSE complete(resultId, analytics, fixes) → 结果页 /result/[id] 加载剧本、原文对照、可视化编辑与 YAML / JSON / Excel 导出。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运行期横切机制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横切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40873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4087368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实时推送 · SSE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609344"/>
            <a:ext cx="5943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51790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类事件：init / progress / phase / log / complete / error / heartbeat / quality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566928" y="1993392"/>
            <a:ext cx="5943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19019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多客户端同时订阅同一 job，事件按 jobId 广播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59436" cy="82296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286000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心跳保活 + 自动重连；连接失败降级为轮询 /api/pipeline/status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4672584" y="1042416"/>
            <a:ext cx="40873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042416"/>
            <a:ext cx="4087368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37176" y="11887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存储与数据隔离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55464" y="1609344"/>
            <a:ext cx="5943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01768" y="151790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/ PostgreSQL 启动探择（健康检查通过才启用 PG，否则优雅回退）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4855464" y="1993392"/>
            <a:ext cx="5943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190195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 按 userId 过滤，越权访问返回 403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4855464" y="2377440"/>
            <a:ext cx="59436" cy="82296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286000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user_llm.api_key 以 AES-256-GCM（enc:v1:）加密，旧明文启动自愈迁移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84048" y="2852928"/>
            <a:ext cx="40873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852928"/>
            <a:ext cx="4087368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99923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健壮性与恢复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3419856"/>
            <a:ext cx="59436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328416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恢复锁 TTL 10 分钟 + 心跳续锁，进程崩溃后锁自动释放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66928" y="3803904"/>
            <a:ext cx="59436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71246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resume 只重跑失败 / 待处理场景，再走 Phase 4 重合并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566928" y="4187952"/>
            <a:ext cx="59436" cy="8229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09651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错误结构化 payload（阶段 + provider）落库，日志与 SSE 同步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4672584" y="2852928"/>
            <a:ext cx="408736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2584" y="2852928"/>
            <a:ext cx="4087368" cy="73152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37176" y="2999232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B277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设定卡编辑与局部重转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55464" y="3419856"/>
            <a:ext cx="59436" cy="82296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3328416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编辑角色 / 地点 / 设定卡 → 差异计算 → 求出失效场景集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4855464" y="3803904"/>
            <a:ext cx="59436" cy="82296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01768" y="3712464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只重转失效场景（复用 Phase 3 组装器），再 Phase 4 重合并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4855464" y="4187952"/>
            <a:ext cx="59436" cy="82296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01768" y="4096512"/>
            <a:ext cx="3575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cardEditLog 留痕：失效数、重转场景、是否触及主角</a:t>
            </a:r>
            <a:endParaRPr lang="en-US" sz="860" dirty="0"/>
          </a:p>
        </p:txBody>
      </p:sp>
      <p:sp>
        <p:nvSpPr>
          <p:cNvPr id="42" name="Text 40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Agent 化编排链路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DB2777"/>
          </a:solidFill>
          <a:ln w="9525">
            <a:solidFill>
              <a:srgbClr val="DB27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多智能体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837590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8375904" cy="64008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AgentCore 运行时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1197864"/>
            <a:ext cx="1250899" cy="402336"/>
          </a:xfrm>
          <a:prstGeom prst="roundRect">
            <a:avLst>
              <a:gd name="adj" fmla="val 13636"/>
            </a:avLst>
          </a:prstGeom>
          <a:solidFill>
            <a:srgbClr val="DB2777">
              <a:alpha val="14000"/>
            </a:srgbClr>
          </a:solidFill>
          <a:ln w="9525">
            <a:solidFill>
              <a:srgbClr val="DB27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197864"/>
            <a:ext cx="12508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状态机（idle→running→终态）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317443" y="1197864"/>
            <a:ext cx="1250899" cy="402336"/>
          </a:xfrm>
          <a:prstGeom prst="roundRect">
            <a:avLst>
              <a:gd name="adj" fmla="val 13636"/>
            </a:avLst>
          </a:prstGeom>
          <a:solidFill>
            <a:srgbClr val="DB2777">
              <a:alpha val="14000"/>
            </a:srgbClr>
          </a:solidFill>
          <a:ln w="9525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7443" y="1197864"/>
            <a:ext cx="12508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三级记忆（短期/工作/长期）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714646" y="1197864"/>
            <a:ext cx="1250899" cy="402336"/>
          </a:xfrm>
          <a:prstGeom prst="roundRect">
            <a:avLst>
              <a:gd name="adj" fmla="val 13636"/>
            </a:avLst>
          </a:prstGeom>
          <a:solidFill>
            <a:srgbClr val="DB2777">
              <a:alpha val="14000"/>
            </a:srgbClr>
          </a:solidFill>
          <a:ln w="9525">
            <a:solidFill>
              <a:srgbClr val="DB27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4646" y="1197864"/>
            <a:ext cx="12508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工具调用循环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111850" y="1197864"/>
            <a:ext cx="1250899" cy="402336"/>
          </a:xfrm>
          <a:prstGeom prst="roundRect">
            <a:avLst>
              <a:gd name="adj" fmla="val 13636"/>
            </a:avLst>
          </a:prstGeom>
          <a:solidFill>
            <a:srgbClr val="DB2777">
              <a:alpha val="14000"/>
            </a:srgbClr>
          </a:solidFill>
          <a:ln w="9525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11850" y="1197864"/>
            <a:ext cx="12508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PromptEngine 组装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509053" y="1197864"/>
            <a:ext cx="1250899" cy="402336"/>
          </a:xfrm>
          <a:prstGeom prst="roundRect">
            <a:avLst>
              <a:gd name="adj" fmla="val 13636"/>
            </a:avLst>
          </a:prstGeom>
          <a:solidFill>
            <a:srgbClr val="DB2777">
              <a:alpha val="14000"/>
            </a:srgbClr>
          </a:solidFill>
          <a:ln w="9525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9053" y="1197864"/>
            <a:ext cx="125089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对话与工具调用全量日志</a:t>
            </a:r>
            <a:endParaRPr lang="en-US" sz="820" dirty="0"/>
          </a:p>
        </p:txBody>
      </p:sp>
      <p:sp>
        <p:nvSpPr>
          <p:cNvPr id="19" name="Text 17"/>
          <p:cNvSpPr/>
          <p:nvPr/>
        </p:nvSpPr>
        <p:spPr>
          <a:xfrm>
            <a:off x="384048" y="19019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五个角色与各自工具集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2194560"/>
            <a:ext cx="15727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194560"/>
            <a:ext cx="1572768" cy="59436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3225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257860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delegate_task · check_progress · approve_workflow · escalate_error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2084832" y="2194560"/>
            <a:ext cx="15727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2194560"/>
            <a:ext cx="1572768" cy="59436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76272" y="23225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76272" y="257860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convert_scene · format_screenplay · generate_dialogue</a:t>
            </a:r>
            <a:endParaRPr lang="en-US" sz="760" dirty="0"/>
          </a:p>
        </p:txBody>
      </p:sp>
      <p:sp>
        <p:nvSpPr>
          <p:cNvPr id="28" name="Shape 26"/>
          <p:cNvSpPr/>
          <p:nvPr/>
        </p:nvSpPr>
        <p:spPr>
          <a:xfrm>
            <a:off x="3785616" y="2194560"/>
            <a:ext cx="15727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85616" y="2194560"/>
            <a:ext cx="1572768" cy="5943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77056" y="23225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877056" y="257860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polish_dialogue · fix_consistency · suggest_revision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486400" y="2194560"/>
            <a:ext cx="15727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2194560"/>
            <a:ext cx="1572768" cy="5943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3225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257860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extract_characters · extract_locations · detect_scenes · summarize_chapter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7187184" y="2194560"/>
            <a:ext cx="1572768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87184" y="2194560"/>
            <a:ext cx="1572768" cy="59436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78624" y="2322576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78624" y="2578608"/>
            <a:ext cx="13898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validate_format · check_character_consistency · check_scene_coherence · quality_score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384048" y="3438144"/>
            <a:ext cx="409651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3438144"/>
            <a:ext cx="45720" cy="694944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" y="3493008"/>
            <a:ext cx="960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交接协议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609344" y="3493008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HandoffProtocol / HandoffManager：任务在角色间流转，带上下文与验收标准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663440" y="3438144"/>
            <a:ext cx="409651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438144"/>
            <a:ext cx="45720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6320" y="3493008"/>
            <a:ext cx="960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质量关卡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888736" y="3493008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ReviewGate 汇总信号（含 identity 确定性身份断言），不达标则挂起或升级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384048" y="4197096"/>
            <a:ext cx="409651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" y="4197096"/>
            <a:ext cx="45720" cy="694944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6928" y="4251960"/>
            <a:ext cx="960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中断与追问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609344" y="4251960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awaiting 挂起 + 人工介入 revise：自由文本建议累积进 task.instruction 供后续阶段沿用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4663440" y="4197096"/>
            <a:ext cx="4096512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4197096"/>
            <a:ext cx="45720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0" y="4251960"/>
            <a:ext cx="960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任务持久化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888736" y="4251960"/>
            <a:ext cx="2706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agent_tasks 表全量 JSON 落库：重启后 awaiting 保持挂起、running 置回 pending 自动续跑</a:t>
            </a:r>
            <a:endParaRPr lang="en-US" sz="820" dirty="0"/>
          </a:p>
        </p:txBody>
      </p:sp>
      <p:sp>
        <p:nvSpPr>
          <p:cNvPr id="56" name="Text 54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LLM 抽象层与模型路由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LLM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0424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调用链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53312"/>
            <a:ext cx="4663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53312"/>
            <a:ext cx="45720" cy="539496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9888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resolveProvider(userId, modelId)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1609344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用户导入的 LLM 优先，回退全局 env；未配置则直接抛错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13232" y="1874520"/>
            <a:ext cx="0" cy="18288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" y="1892808"/>
            <a:ext cx="4663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892808"/>
            <a:ext cx="45720" cy="539496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29384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registry / llm-gateway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148840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 注册与默认选择，自定义 Provider 优先命中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13232" y="2414016"/>
            <a:ext cx="0" cy="18288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048" y="2432304"/>
            <a:ext cx="4663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432304"/>
            <a:ext cx="45720" cy="539496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68880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ModelRouter + routing-strategy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2688336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按模型 ID / 成本策略路由；chatStream 支持 token 级流式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713232" y="2953512"/>
            <a:ext cx="0" cy="18288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84048" y="2971800"/>
            <a:ext cx="4663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971800"/>
            <a:ext cx="45720" cy="539496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008376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实现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3227832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BaseProvider → DeepSeek / OpenAI / CustomOpenAI(Ollama) / CustomAnthropic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13232" y="3493008"/>
            <a:ext cx="0" cy="18288"/>
          </a:xfrm>
          <a:prstGeom prst="line">
            <a:avLst/>
          </a:prstGeom>
          <a:noFill/>
          <a:ln w="2032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84048" y="3511296"/>
            <a:ext cx="46634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511296"/>
            <a:ext cx="45720" cy="539496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547872"/>
            <a:ext cx="4334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rate-limiter / budget-controller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3767328"/>
            <a:ext cx="4334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Bucket 限流 + 预算控制器（canRequest 判定，超限优雅降级）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5248656" y="1042416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用户级自定义 LLM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248656" y="1353312"/>
            <a:ext cx="351129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8656" y="1353312"/>
            <a:ext cx="4572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31536" y="1408176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接入与 CRUD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31536" y="16276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/api/llm 新增，GET 列表 / PATCH 更新 / DELETE 删除；支持 OpenAI 兼容（含 Ollama 本地服务）与 Anthropic 原生 Messages API。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248656" y="2112264"/>
            <a:ext cx="351129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48656" y="2112264"/>
            <a:ext cx="45720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31536" y="216712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密钥加密存储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31536" y="238658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api_key 以 AES-256-GCM 落库（enc:v1:&lt;iv&gt;.&lt;tag&gt;.&lt;ct&gt;），密钥由 USER_LLM_KEY 派生；旧明文由启动迁移自愈。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248656" y="2871216"/>
            <a:ext cx="351129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48656" y="2871216"/>
            <a:ext cx="45720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31536" y="2926080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连通性测试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31536" y="314553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/api/llm/[id]/test，15 秒超时 signal；列表页提供「测试连通性」按钮并实时显示状态。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5248656" y="3630168"/>
            <a:ext cx="3511296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248656" y="3630168"/>
            <a:ext cx="45720" cy="694944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31536" y="3685032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流式输出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31536" y="390448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ModelRouter.chatStream 统一转发，NDJSON 帧格式 + AbortController 取消 + 并发 in-flight 保护。</a:t>
            </a:r>
            <a:endParaRPr lang="en-US" sz="820" dirty="0"/>
          </a:p>
        </p:txBody>
      </p:sp>
      <p:sp>
        <p:nvSpPr>
          <p:cNvPr id="48" name="Text 46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数据契约与双后端存储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契约+存储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04241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packages/contracts · zod 4 数据契约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" y="1353312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53312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988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novel.schema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93392" y="138988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创作小说：分卷 / 章节 / 人物卡 / 世界观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384048" y="1956816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956816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99339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screenplay.schema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993392" y="1993392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 novel2screenplay-v1：场景 / 角色 / 地点，sourceRefs 溯源，discriminatedUnion 内容块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384048" y="25603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560320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9689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drama.schema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93392" y="2596896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 novel2drama-v1：景别 / 运镜 / 时长 / 画面提示词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384048" y="3163824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163824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0040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pipeline.schema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93392" y="320040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四阶段输出契约（Phase1/2/3Output），供 @novel/db 任务存取复用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84048" y="37673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767328"/>
            <a:ext cx="4572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80390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serializers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993392" y="3803904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YAML 序列化器 + 分镜序列化器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517136" y="1042416"/>
            <a:ext cx="4242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packages/db · DbEngine 双后端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17136" y="1353312"/>
            <a:ext cx="4242816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17136" y="1353312"/>
            <a:ext cx="4242816" cy="59436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499616"/>
            <a:ext cx="877824" cy="310896"/>
          </a:xfrm>
          <a:prstGeom prst="roundRect">
            <a:avLst>
              <a:gd name="adj" fmla="val 17647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49961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DATABASE_URL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559552" y="1655064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687568" y="1499616"/>
            <a:ext cx="877824" cy="310896"/>
          </a:xfrm>
          <a:prstGeom prst="roundRect">
            <a:avLst>
              <a:gd name="adj" fmla="val 17647"/>
            </a:avLst>
          </a:prstGeom>
          <a:solidFill>
            <a:srgbClr val="0284C7">
              <a:alpha val="14000"/>
            </a:srgbClr>
          </a:solidFill>
          <a:ln w="9525">
            <a:solidFill>
              <a:srgbClr val="0284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149961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 健康检查</a:t>
            </a:r>
            <a:endParaRPr lang="en-US" sz="760" dirty="0"/>
          </a:p>
        </p:txBody>
      </p:sp>
      <p:sp>
        <p:nvSpPr>
          <p:cNvPr id="35" name="Shape 33"/>
          <p:cNvSpPr/>
          <p:nvPr/>
        </p:nvSpPr>
        <p:spPr>
          <a:xfrm>
            <a:off x="6583680" y="1655064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711696" y="1499616"/>
            <a:ext cx="877824" cy="310896"/>
          </a:xfrm>
          <a:prstGeom prst="roundRect">
            <a:avLst>
              <a:gd name="adj" fmla="val 17647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11696" y="149961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 → PG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7607808" y="1655064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735824" y="1499616"/>
            <a:ext cx="877824" cy="310896"/>
          </a:xfrm>
          <a:prstGeom prst="roundRect">
            <a:avLst>
              <a:gd name="adj" fmla="val 17647"/>
            </a:avLst>
          </a:prstGeom>
          <a:solidFill>
            <a:srgbClr val="CA8A04">
              <a:alpha val="14000"/>
            </a:srgbClr>
          </a:solidFill>
          <a:ln w="9525">
            <a:solidFill>
              <a:srgbClr val="CA8A0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35824" y="149961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 → 回退 SQLite</a:t>
            </a:r>
            <a:endParaRPr lang="en-US" sz="760" dirty="0"/>
          </a:p>
        </p:txBody>
      </p:sp>
      <p:sp>
        <p:nvSpPr>
          <p:cNvPr id="41" name="Text 39"/>
          <p:cNvSpPr/>
          <p:nvPr/>
        </p:nvSpPr>
        <p:spPr>
          <a:xfrm>
            <a:off x="4663440" y="190195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同步语义：DbEngine 提供 prepare.run/get/all 同步抽象；PG 侧经独立 worker 线程 + SharedArrayBuffer + Atomics 桥（STORAGE_SYNC_MODE=bridge）实现，repository 代码零改动。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4517136" y="2670048"/>
            <a:ext cx="424281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17136" y="2670048"/>
            <a:ext cx="45720" cy="859536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0016" y="274320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迁移与校验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0016" y="2980944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migrate-sqlite-to-pg.mjs 按外键顺序搬 9 张业务表，幂等 INSERT，迁移后行数 + 抽样全列双向校验；支持 --backup / --truncate / --dry-run。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517136" y="3602736"/>
            <a:ext cx="424281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17136" y="3602736"/>
            <a:ext cx="45720" cy="859536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0016" y="36758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A8A0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双后端测试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700016" y="3913632"/>
            <a:ext cx="3913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repository-contract / schema-parity 参数化双跑：有 DATABASE_URL 则追加 PG（自动解析到 _test 后缀库做 DB 级隔离），否则仅跑 SQLite。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工程质量保障与已知限制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64748B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工程化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" y="104241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质量保障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53312"/>
            <a:ext cx="4389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53312"/>
            <a:ext cx="45720" cy="60350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89888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CI 四门禁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00784" y="1389888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 / typecheck / test / build 四个 job 全绿方可合并；构建前清理缓存并 rebuild better-sqlite3。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384048" y="2011680"/>
            <a:ext cx="4389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011680"/>
            <a:ext cx="45720" cy="603504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48256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CA8A0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测试规模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00784" y="2048256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455 例单测全绿（screenplay 386 + contracts 37 + db 32）；Vitest 串行执行，跑在隔离的 data-test 库上。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384048" y="2670048"/>
            <a:ext cx="4389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670048"/>
            <a:ext cx="45720" cy="60350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706624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双后端覆盖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700784" y="2706624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repository-contract 14 例 + schema-parity 33 例，表 / 列 / 约束 / 索引 / 外键与语义行为均双跑对齐。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384048" y="3328416"/>
            <a:ext cx="4389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328416"/>
            <a:ext cx="45720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364992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端到端验证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700784" y="3364992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e2e 全链路脚本覆盖 P0 主链路；迁移脚本 dry-run 与全量模式实测通过（含双向校验）。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384048" y="3986784"/>
            <a:ext cx="43891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986784"/>
            <a:ext cx="45720" cy="603504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23360"/>
            <a:ext cx="1051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部署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700784" y="4023360"/>
            <a:ext cx="29077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1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Dockerfile + docker-compose，SQLite 数据卷 /app/data，healthcheck 走 /api/health。</a:t>
            </a:r>
            <a:endParaRPr lang="en-US" sz="810" dirty="0"/>
          </a:p>
        </p:txBody>
      </p:sp>
      <p:sp>
        <p:nvSpPr>
          <p:cNvPr id="27" name="Text 25"/>
          <p:cNvSpPr/>
          <p:nvPr/>
        </p:nvSpPr>
        <p:spPr>
          <a:xfrm>
            <a:off x="4974336" y="1042416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已知限制与演进方向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74336" y="1353312"/>
            <a:ext cx="378561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4336" y="1353312"/>
            <a:ext cx="45720" cy="74980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57216" y="142646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PG 实跑待环境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57216" y="1664208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双后端代码与测试已就绪，真实 PG 联跑需配置 DATABASE_URL 后验证（契约测试 / 迁移全量 / e2e on PG）。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974336" y="2176272"/>
            <a:ext cx="378561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74336" y="2176272"/>
            <a:ext cx="45720" cy="74980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224942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SQLite 单机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57216" y="2487168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多实例不共享数据；已具备 PG 后端与迁移脚本，配好环境即可横向扩展。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974336" y="2999232"/>
            <a:ext cx="378561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74336" y="2999232"/>
            <a:ext cx="45720" cy="74980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57216" y="307238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sourceRefs 精度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57216" y="3310128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长段落内偏移不精确；V1 提供 excerpt 供用户搜索定位。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4974336" y="3822192"/>
            <a:ext cx="378561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74336" y="3822192"/>
            <a:ext cx="45720" cy="749808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57216" y="3895344"/>
            <a:ext cx="3456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共享包未抽完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57216" y="4133088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2000"/>
              </a:lnSpc>
              <a:buNone/>
            </a:pPr>
            <a:r>
              <a:rPr lang="en-US" sz="82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@novel/agents、@novel/ui、@novel/auth 尚未抽包，auth 逻辑仍在应用内 lib/auth。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47472"/>
            <a:ext cx="77724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6318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小结：一条可观测、可恢复、可切换的生产链路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76872" y="365760"/>
            <a:ext cx="1783080" cy="347472"/>
          </a:xfrm>
          <a:prstGeom prst="roundRect">
            <a:avLst>
              <a:gd name="adj" fmla="val 15789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76872" y="36576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· 小结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84048" y="1042416"/>
            <a:ext cx="195681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042416"/>
            <a:ext cx="1956816" cy="7772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2529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A580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链路清晰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1591056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→ 四阶段 → 合并落库 → 质量评估 → 结果页，每个阶段有明确输入输出、进度锚点与落库快照。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2523744" y="1042416"/>
            <a:ext cx="195681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3744" y="1042416"/>
            <a:ext cx="1956816" cy="7772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122529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C262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全程可观测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70048" y="1591056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类 SSE 事件 + 逐场景状态 + 运行期指标（耗时 / usage / 预算拦截）随产物持久化，/debug 页可视化回放。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663440" y="1042416"/>
            <a:ext cx="195681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42416"/>
            <a:ext cx="1956816" cy="77724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122529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DB2777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失败可恢复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9744" y="1591056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恢复锁 + 只重跑失败场景 + 设定卡编辑局部重转 + Agent 任务重启恢复，长任务不因单点失败前功尽弃。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803136" y="1042416"/>
            <a:ext cx="195681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03136" y="1042416"/>
            <a:ext cx="1956816" cy="7772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225296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6A34A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存储可切换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49440" y="1591056"/>
            <a:ext cx="16642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87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契约先行的双后端抽象：SQLite 开箱即用，配 DATABASE_URL 即启用 PG，repository 零改动。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384048" y="29626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122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下一步演进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709928" y="2980944"/>
            <a:ext cx="1053084" cy="365760"/>
          </a:xfrm>
          <a:prstGeom prst="roundRect">
            <a:avLst>
              <a:gd name="adj" fmla="val 15000"/>
            </a:avLst>
          </a:prstGeom>
          <a:solidFill>
            <a:srgbClr val="16A34A">
              <a:alpha val="14000"/>
            </a:srgbClr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9928" y="2980944"/>
            <a:ext cx="1053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多实例共享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909316" y="2980944"/>
            <a:ext cx="1053084" cy="365760"/>
          </a:xfrm>
          <a:prstGeom prst="roundRect">
            <a:avLst>
              <a:gd name="adj" fmla="val 15000"/>
            </a:avLst>
          </a:prstGeom>
          <a:solidFill>
            <a:srgbClr val="0D9488">
              <a:alpha val="14000"/>
            </a:srgbClr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09316" y="2980944"/>
            <a:ext cx="1053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共享包抽取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108704" y="2980944"/>
            <a:ext cx="1053084" cy="365760"/>
          </a:xfrm>
          <a:prstGeom prst="roundRect">
            <a:avLst>
              <a:gd name="adj" fmla="val 15000"/>
            </a:avLst>
          </a:prstGeom>
          <a:solidFill>
            <a:srgbClr val="64748B">
              <a:alpha val="14000"/>
            </a:srgbClr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08704" y="2980944"/>
            <a:ext cx="1053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PG 真实环境验证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308092" y="2980944"/>
            <a:ext cx="1053084" cy="365760"/>
          </a:xfrm>
          <a:prstGeom prst="roundRect">
            <a:avLst>
              <a:gd name="adj" fmla="val 15000"/>
            </a:avLst>
          </a:prstGeom>
          <a:solidFill>
            <a:srgbClr val="CA8A04">
              <a:alpha val="14000"/>
            </a:srgbClr>
          </a:solidFill>
          <a:ln w="9525">
            <a:solidFill>
              <a:srgbClr val="CA8A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8092" y="2980944"/>
            <a:ext cx="1053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A8A0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Phase1 翻默认数据门槛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6507480" y="2980944"/>
            <a:ext cx="1053084" cy="365760"/>
          </a:xfrm>
          <a:prstGeom prst="roundRect">
            <a:avLst>
              <a:gd name="adj" fmla="val 15000"/>
            </a:avLst>
          </a:prstGeom>
          <a:solidFill>
            <a:srgbClr val="2563EB">
              <a:alpha val="14000"/>
            </a:srgbClr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07480" y="2980944"/>
            <a:ext cx="1053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移动端与编辑体验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7706868" y="2980944"/>
            <a:ext cx="1053084" cy="365760"/>
          </a:xfrm>
          <a:prstGeom prst="roundRect">
            <a:avLst>
              <a:gd name="adj" fmla="val 15000"/>
            </a:avLst>
          </a:prstGeom>
          <a:solidFill>
            <a:srgbClr val="DB2777">
              <a:alpha val="14000"/>
            </a:srgbClr>
          </a:solidFill>
          <a:ln w="9525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06868" y="2980944"/>
            <a:ext cx="1053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B2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可嵌入 Agent 工作台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84048" y="3493008"/>
            <a:ext cx="8375904" cy="60350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4048" y="3493008"/>
            <a:ext cx="50292" cy="60350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5216" y="3493008"/>
            <a:ext cx="7973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把「小说 → 剧本 → 分镜」的创作链路拆成了可独立验证、可局部重跑、可横向扩展的工程模块——每个模块有契约、有测试、有颜色。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" y="4796028"/>
            <a:ext cx="7552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Novel2Screenplay · 项目介绍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028432" y="47960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26680" y="640080"/>
            <a:ext cx="82296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056132"/>
            <a:ext cx="82296" cy="329184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26680" y="1472184"/>
            <a:ext cx="82296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26680" y="1888236"/>
            <a:ext cx="82296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26680" y="2304288"/>
            <a:ext cx="82296" cy="329184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2720340"/>
            <a:ext cx="82296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6680" y="3136392"/>
            <a:ext cx="82296" cy="329184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0" y="3552444"/>
            <a:ext cx="82296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26680" y="3968496"/>
            <a:ext cx="82296" cy="329184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26680" y="4384548"/>
            <a:ext cx="82296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234440"/>
            <a:ext cx="238201" cy="6858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6861" y="1234440"/>
            <a:ext cx="238201" cy="68580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35354" y="1234440"/>
            <a:ext cx="238201" cy="68580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23848" y="1234440"/>
            <a:ext cx="238201" cy="68580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12341" y="1234440"/>
            <a:ext cx="238201" cy="68580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00834" y="1234440"/>
            <a:ext cx="238201" cy="68580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89327" y="1234440"/>
            <a:ext cx="238201" cy="68580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77820" y="1234440"/>
            <a:ext cx="238201" cy="68580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66314" y="1234440"/>
            <a:ext cx="238201" cy="68580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54807" y="1234440"/>
            <a:ext cx="238201" cy="68580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48132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58368" y="2377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B7C4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Novel2Screenplay · AI 小说转剧本工具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" y="2798064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四阶段流水线 · Agent 编排 · 双后端存储 · SSE 实时推送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" y="3383280"/>
            <a:ext cx="3566160" cy="822960"/>
          </a:xfrm>
          <a:prstGeom prst="rect">
            <a:avLst/>
          </a:prstGeom>
          <a:solidFill>
            <a:srgbClr val="16203A"/>
          </a:solidFill>
          <a:ln w="12700">
            <a:solidFill>
              <a:srgbClr val="2633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47472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8FA3C4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技术栈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369417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4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Next.js 16 · React 19 · TypeScript 5 · SQLite / PostgreSQL · Vitest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58368" y="4434840"/>
            <a:ext cx="315468" cy="5029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19556" y="4434840"/>
            <a:ext cx="315468" cy="50292"/>
          </a:xfrm>
          <a:prstGeom prst="rect">
            <a:avLst/>
          </a:prstGeom>
          <a:solidFill>
            <a:srgbClr val="0284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80744" y="4434840"/>
            <a:ext cx="315468" cy="50292"/>
          </a:xfrm>
          <a:prstGeom prst="rect">
            <a:avLst/>
          </a:prstGeom>
          <a:solidFill>
            <a:srgbClr val="EA58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41932" y="4434840"/>
            <a:ext cx="315468" cy="50292"/>
          </a:xfrm>
          <a:prstGeom prst="rect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03120" y="4434840"/>
            <a:ext cx="315468" cy="50292"/>
          </a:xfrm>
          <a:prstGeom prst="rect">
            <a:avLst/>
          </a:prstGeom>
          <a:solidFill>
            <a:srgbClr val="DB27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64308" y="4434840"/>
            <a:ext cx="315468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25496" y="4434840"/>
            <a:ext cx="315468" cy="50292"/>
          </a:xfrm>
          <a:prstGeom prst="rect">
            <a:avLst/>
          </a:prstGeom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186684" y="4434840"/>
            <a:ext cx="315468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47872" y="4434840"/>
            <a:ext cx="315468" cy="50292"/>
          </a:xfrm>
          <a:prstGeom prst="rect">
            <a:avLst/>
          </a:prstGeom>
          <a:solidFill>
            <a:srgbClr val="CA8A0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09060" y="4434840"/>
            <a:ext cx="315468" cy="50292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2026-10-15T16:27:28Z</dcterms:created>
  <dcterms:modified xsi:type="dcterms:W3CDTF">2026-10-15T16:27:28Z</dcterms:modified>
</cp:coreProperties>
</file>
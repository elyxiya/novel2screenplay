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截断基线</c:v>
                </c:pt>
              </c:strCache>
            </c:strRef>
          </c:tx>
          <c:spPr>
            <a:solidFill>
              <a:srgbClr val="2E3A5C"/>
            </a:solidFill>
          </c:spPr>
          <c:cat>
            <c:strRef>
              <c:f>Sheet1!$A$2:$A$4</c:f>
              <c:strCache>
                <c:ptCount val="3"/>
                <c:pt idx="0">
                  <c:v>斗破（短篇）</c:v>
                </c:pt>
                <c:pt idx="1">
                  <c:v>湛蓝（中篇）</c:v>
                </c:pt>
                <c:pt idx="2">
                  <c:v>修真（长篇）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0.901</c:v>
                </c:pt>
                <c:pt idx="1">
                  <c:v>0.737</c:v>
                </c:pt>
                <c:pt idx="2">
                  <c:v>0.538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按章归并</c:v>
                </c:pt>
              </c:strCache>
            </c:strRef>
          </c:tx>
          <c:spPr>
            <a:solidFill>
              <a:srgbClr val="5B8CFF"/>
            </a:solidFill>
          </c:spPr>
          <c:cat>
            <c:strRef>
              <c:f>Sheet1!$A$2:$A$4</c:f>
              <c:strCache>
                <c:ptCount val="3"/>
                <c:pt idx="0">
                  <c:v>斗破（短篇）</c:v>
                </c:pt>
                <c:pt idx="1">
                  <c:v>湛蓝（中篇）</c:v>
                </c:pt>
                <c:pt idx="2">
                  <c:v>修真（长篇）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0.887</c:v>
                </c:pt>
                <c:pt idx="1">
                  <c:v>0.96</c:v>
                </c:pt>
                <c:pt idx="2">
                  <c:v>0.842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50">
                  <a:solidFill>
                    <a:srgbClr val="E9EEF9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60"/>
            </a:solidFill>
          </a:ln>
        </c:spPr>
        <c:txPr>
          <a:bodyPr/>
          <a:lstStyle/>
          <a:p>
            <a:pPr>
              <a:defRPr sz="1000">
                <a:solidFill>
                  <a:srgbClr val="93A1B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6350">
              <a:solidFill>
                <a:srgbClr val="222B4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560"/>
            </a:solidFill>
          </a:ln>
        </c:spPr>
        <c:txPr>
          <a:bodyPr/>
          <a:lstStyle/>
          <a:p>
            <a:pPr>
              <a:defRPr sz="900">
                <a:solidFill>
                  <a:srgbClr val="93A1BE"/>
                </a:solidFill>
              </a:defRPr>
            </a:pPr>
          </a:p>
        </c:txPr>
        <c:crossAx val="-2068027336"/>
        <c:crosses val="autoZero"/>
        <c:majorUnit val="0.25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spPr>
    <a:solidFill>
      <a:srgbClr val="141C2F"/>
    </a:solidFill>
    <a:ln w="9525">
      <a:solidFill>
        <a:srgbClr val="2A3560"/>
      </a:solidFill>
    </a:ln>
  </c:spPr>
  <c:txPr>
    <a:bodyPr/>
    <a:lstStyle/>
    <a:p>
      <a:pPr>
        <a:defRPr sz="1050">
          <a:solidFill>
            <a:srgbClr val="93A1BE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开场一句话：这个项目把小说转剧本从'能转'做到'可测、可审计、可局部修复'。今天只讲三件事：上下文、可靠性、怎么证明变好了。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三个断点：装不下、不可信、改不动。每个断点后面都对应一个具体工程动作。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三条线共用一条数据链。演示路径：/result 看原文对照与溯源，/debug 看时间线，/shortdrama 看分镜。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monorepo 不是为了好看：契约先行 + 产品线边界，后面加短剧、加创作台都不用动主链。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决策只在一个函数里。2026-10-21 把默认从 truncate 翻到 auto，这是所有者决策覆盖预注册门槛，记录里有风险与回滚。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图里是准确率；F1 均值 0.752→0.886 是另一次 A/B。收益随截断程度增加，短篇基本持平。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恢复锁用一条 UPDATE 的 changes 判定，省掉 Redis。承认这不是分布式共识；多实例共用同一个库可用。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质量工程是差异化：金标注链路 + 统计口径 + 预注册判据 + 快照复现。允许写'结论未复现'。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 四个门禁 + PG co-run 是 2026-08 补的；10 月又加了文档一致性检查，防止文档变成谎言。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这四个是真实短板。工具调用补半天就能通；评测样本需要钱和时间；PG 只差环境。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先把最便宜的短板补掉（工具调用半天），再花时间在数据上。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收尾一句：这个项目最值钱的不是功能表，而是'把不可信变成可查询的数据'的方法。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2194560"/>
            <a:ext cx="5852160" cy="5852160"/>
          </a:xfrm>
          <a:prstGeom prst="ellipse">
            <a:avLst/>
          </a:prstGeom>
          <a:solidFill>
            <a:srgbClr val="5B8C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35D6E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4206240"/>
            <a:ext cx="2926080" cy="2926080"/>
          </a:xfrm>
          <a:prstGeom prst="ellipse">
            <a:avLst/>
          </a:prstGeom>
          <a:solidFill>
            <a:srgbClr val="3DDC97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310896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个人项目 · 技术答辩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9144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Novel2Screenplay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42416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把几十万字小说，转成可编辑、可溯源的剧本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64992"/>
            <a:ext cx="1042416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LLM 出初稿 · 人做精修 · 失败留在数据里可查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605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5B8C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4.5 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41605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35D6E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≈300 次提交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1605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3DDC97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747 例单测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41605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FB8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3 条产品线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10058400" cy="3200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Next.js 16 · React 19 · TypeScript 5 · SQLite / PostgreSQL · Vitest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532120"/>
            <a:ext cx="2926080" cy="32004"/>
          </a:xfrm>
          <a:prstGeom prst="roundRect">
            <a:avLst>
              <a:gd name="adj" fmla="val 50000"/>
            </a:avLst>
          </a:prstGeom>
          <a:solidFill>
            <a:srgbClr val="5B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715000"/>
            <a:ext cx="10058400" cy="3200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2026.06 – 2026.10 ｜ 答辩提纲见 docs/答辩提纲.md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LLM 能写出剧本，但产不出可信的剧本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27632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2834640" cy="32918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装不下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31136"/>
            <a:ext cx="2880360" cy="685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整本 30 万字 / 3 万 token 截断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52928"/>
            <a:ext cx="2880360" cy="9144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样本里 59% 正文从未参与实体分析，后段角色整批丢失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283464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59%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27632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10512"/>
            <a:ext cx="2834640" cy="32918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不可信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31136"/>
            <a:ext cx="2880360" cy="685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漏抽 · 幻想 · 把背景写成动作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52928"/>
            <a:ext cx="2880360" cy="9144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早期评测拿自己那次运行当金标，F1 恒为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283464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F1=1.0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627632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810512"/>
            <a:ext cx="2834640" cy="329184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7AB6"/>
                </a:solidFill>
                <a:latin typeface="Microsoft YaHei"/>
                <a:ea typeface="Microsoft YaHei"/>
                <a:cs typeface="Microsoft YaHei"/>
              </a:rPr>
              <a:t>改不动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231136"/>
            <a:ext cx="2880360" cy="685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改一次 prompt 全链路重跑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852928"/>
            <a:ext cx="2880360" cy="9144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失败只能整条重来，没有局部修复与回放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114800"/>
            <a:ext cx="283464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7AB6"/>
                </a:solidFill>
                <a:latin typeface="Microsoft YaHei"/>
                <a:ea typeface="Microsoft YaHei"/>
                <a:cs typeface="Microsoft YaHei"/>
              </a:rPr>
              <a:t>30 min+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10789920" cy="5486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所以这个项目的重点不是「接一个模型」，而是三件事：把长文装下、把状态做可靠、把质量变成可测量的数。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三条产品线，共用一条数据链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5074920" cy="1024128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54864" cy="1024128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19656"/>
            <a:ext cx="18288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① 创作台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148840"/>
            <a:ext cx="17830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/writer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03704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章节树 · 人物卡 · 世界观 · AI 续写/改写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074920" cy="1024128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898648"/>
            <a:ext cx="54864" cy="1024128"/>
          </a:xfrm>
          <a:prstGeom prst="roundRect">
            <a:avLst>
              <a:gd name="adj" fmla="val 50000"/>
            </a:avLst>
          </a:prstGeom>
          <a:solidFill>
            <a:srgbClr val="35D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026664"/>
            <a:ext cx="18288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② 小说改编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355848"/>
            <a:ext cx="17830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/upload → /result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410712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四阶段流水线 · 可视化编辑 · 溯源 · 导出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05656"/>
            <a:ext cx="5074920" cy="1024128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105656"/>
            <a:ext cx="54864" cy="102412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233672"/>
            <a:ext cx="18288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③ 短剧工坊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562856"/>
            <a:ext cx="17830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/shortdrama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61772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规则引擎分镜 · 分集 · 配音脚本 · 表格导出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91640"/>
            <a:ext cx="2331720" cy="566928"/>
          </a:xfrm>
          <a:prstGeom prst="roundRect">
            <a:avLst>
              <a:gd name="adj" fmla="val 25000"/>
            </a:avLst>
          </a:prstGeom>
          <a:solidFill>
            <a:srgbClr val="1A2340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837944"/>
            <a:ext cx="23317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上传解析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737360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764792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四阶段编排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478024"/>
            <a:ext cx="2331720" cy="566928"/>
          </a:xfrm>
          <a:prstGeom prst="roundRect">
            <a:avLst>
              <a:gd name="adj" fmla="val 25000"/>
            </a:avLst>
          </a:prstGeom>
          <a:solidFill>
            <a:srgbClr val="1A2340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624328"/>
            <a:ext cx="23317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设定卡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523744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551176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按章 map-reduce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264408"/>
            <a:ext cx="2331720" cy="566928"/>
          </a:xfrm>
          <a:prstGeom prst="roundRect">
            <a:avLst>
              <a:gd name="adj" fmla="val 25000"/>
            </a:avLst>
          </a:prstGeom>
          <a:solidFill>
            <a:srgbClr val="1A2340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410712"/>
            <a:ext cx="23317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场景切分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310128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33756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段落/章号归一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050791"/>
            <a:ext cx="2331720" cy="566928"/>
          </a:xfrm>
          <a:prstGeom prst="roundRect">
            <a:avLst>
              <a:gd name="adj" fmla="val 25000"/>
            </a:avLst>
          </a:prstGeom>
          <a:solidFill>
            <a:srgbClr val="1A2340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197096"/>
            <a:ext cx="23317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逐场转写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096511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123944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并发 3 · 重试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837176"/>
            <a:ext cx="2331720" cy="566928"/>
          </a:xfrm>
          <a:prstGeom prst="roundRect">
            <a:avLst>
              <a:gd name="adj" fmla="val 25000"/>
            </a:avLst>
          </a:prstGeom>
          <a:solidFill>
            <a:srgbClr val="1A2340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983480"/>
            <a:ext cx="23317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合并校验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4882896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669280"/>
            <a:ext cx="521208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产物：YAML / Markdown / Excel · 分镜 / 分集 / 配音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一个仓库，三层边界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7589520" cy="89611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64208"/>
            <a:ext cx="45720" cy="896112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10512"/>
            <a:ext cx="69494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L2 产品线（互不 import）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167128"/>
            <a:ext cx="70408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创作台 / 小说改编 / 短剧工坊 —— 各自契约、路由、仓储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15768"/>
            <a:ext cx="7589520" cy="89611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715768"/>
            <a:ext cx="45720" cy="896112"/>
          </a:xfrm>
          <a:prstGeom prst="roundRect">
            <a:avLst>
              <a:gd name="adj" fmla="val 50000"/>
            </a:avLst>
          </a:prstGeom>
          <a:solidFill>
            <a:srgbClr val="35D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862072"/>
            <a:ext cx="69494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L1 共享底座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218687"/>
            <a:ext cx="70408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LLM 网关 · 存储 · SSE · 认证 · Agent 运行时 · 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67328"/>
            <a:ext cx="7589520" cy="89611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45720" cy="896112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913632"/>
            <a:ext cx="69494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L0 契约与存储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270248"/>
            <a:ext cx="70408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@novel/contracts（Zod）· @novel/db（SQLite / PG）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1709928"/>
            <a:ext cx="109728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1847088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页面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734056"/>
            <a:ext cx="109728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871216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API 路由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758184"/>
            <a:ext cx="109728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895344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数据表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782312"/>
            <a:ext cx="1097280" cy="5029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919472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共享包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10789920" cy="3200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边界由 lint 冻结：产品线之间禁止互相 import（import/no-restricted-paths），为将来真拆留接缝。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难点一 · 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三条路径，一个决策点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27632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83080"/>
            <a:ext cx="283464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截断基线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21408"/>
            <a:ext cx="288036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按比例截到 3 万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43200"/>
            <a:ext cx="2880360" cy="1371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实现最简单；截断点落在句中，后半本角色不参与分析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27632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83080"/>
            <a:ext cx="283464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按章归并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21408"/>
            <a:ext cx="288036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每章并行抽取 → 全局设定卡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43200"/>
            <a:ext cx="2880360" cy="1371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实体记录称呼出处；成本约为截断的 1.5–2.5 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627632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783080"/>
            <a:ext cx="283464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长上下文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121408"/>
            <a:ext cx="288036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整本不截断 + 90% 窗口守卫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743200"/>
            <a:ext cx="2880360" cy="13716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依赖大窗口模型；超窗口时回退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72000"/>
            <a:ext cx="10817352" cy="841248"/>
          </a:xfrm>
          <a:prstGeom prst="roundRect">
            <a:avLst>
              <a:gd name="adj" fmla="val 18000"/>
            </a:avLst>
          </a:prstGeom>
          <a:solidFill>
            <a:srgbClr val="1A2340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00016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场景上下文 = 主角卡常驻 + 本章在场配角 + 前 5 章滚动摘要 + 未闭合伏笔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29200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prompt 体积与全书角色数解耦；预算守卫在每次调用前估算 token，超限降级不中断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623560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5B8C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默认按 3 万 token 分流：长文归并 / 短文截断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5623560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35D6E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回滚：PHASE1_MODE=truncate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难点一 ·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收益与截断程度正相关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600200"/>
          <a:ext cx="68580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09560" y="1664208"/>
            <a:ext cx="356616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Phase1 准确率（3 样本 × 3 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084831"/>
            <a:ext cx="356616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0.752 → 0.886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432303"/>
            <a:ext cx="3566160" cy="256032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Phase1 F1 均值（A/B）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044952"/>
            <a:ext cx="356616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10.7 → 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392424"/>
            <a:ext cx="3566160" cy="256032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角色召回（金标 27）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005072"/>
            <a:ext cx="356616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3.97% → 96.9%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52544"/>
            <a:ext cx="3566160" cy="256032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溯源率（doupo）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029200"/>
            <a:ext cx="3566160" cy="8229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口径：reviewed 金标注，2026-10-21 / 10-22 实测；短篇 doupo 只降 0.014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难点二 · 可靠性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状态可恢复，失败可定位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2542032" cy="1874519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828800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状态落库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12848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保留原类与方法签名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几十个调用点零改动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77440"/>
            <a:ext cx="18288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664208"/>
            <a:ext cx="2542032" cy="1874519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828800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DB CAS 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212848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单条 UPDATE 抢锁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TTL 10 分钟 + 心跳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2377440"/>
            <a:ext cx="18288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664208"/>
            <a:ext cx="2542032" cy="1874519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只重跑失败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12848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按场景号对齐旧产物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重合并，不重跑全量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2377440"/>
            <a:ext cx="18288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0536" y="1664208"/>
            <a:ext cx="2542032" cy="1874519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1828800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可回放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212848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运行事件 + 阶段产物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单场景重跑对比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69080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取消从「只重置状态」改为贯穿执行链；错误与指标不再只在日志里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2628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5B8C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9 个错误码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52628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35D6E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指标落库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452628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3DDC97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run_events / stage_artifacts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452628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FB8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jobStore 轻量读取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边界：单库 CAS 不是分布式锁；jobStore.update 无版本号，并发写同一数组仍可能丢写。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难点三 · 质量工程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先建度量，再改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5029200" cy="694944"/>
          </a:xfrm>
          <a:prstGeom prst="roundRect">
            <a:avLst>
              <a:gd name="adj" fmla="val 20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55648"/>
            <a:ext cx="14173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预标注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92224"/>
            <a:ext cx="3200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模型先标，人只改错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05456"/>
            <a:ext cx="5029200" cy="694944"/>
          </a:xfrm>
          <a:prstGeom prst="roundRect">
            <a:avLst>
              <a:gd name="adj" fmla="val 20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596896"/>
            <a:ext cx="14173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人工抽检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633472"/>
            <a:ext cx="3200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在场/提及、别名/描述分开判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46704"/>
            <a:ext cx="5029200" cy="694944"/>
          </a:xfrm>
          <a:prstGeom prst="roundRect">
            <a:avLst>
              <a:gd name="adj" fmla="val 20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3438144"/>
            <a:ext cx="14173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冻结金标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474720"/>
            <a:ext cx="3200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reviewed 才计入，剔除自证运行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87952"/>
            <a:ext cx="5029200" cy="694944"/>
          </a:xfrm>
          <a:prstGeom prst="roundRect">
            <a:avLst>
              <a:gd name="adj" fmla="val 20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279392"/>
            <a:ext cx="14173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3×3 基线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315968"/>
            <a:ext cx="3200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均值 ± σ，区分稳定性与准确率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29200"/>
            <a:ext cx="5029200" cy="694944"/>
          </a:xfrm>
          <a:prstGeom prst="roundRect">
            <a:avLst>
              <a:gd name="adj" fmla="val 20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120640"/>
            <a:ext cx="141732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A/B 与漂移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157216"/>
            <a:ext cx="3200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三模式 / 温度 / 提示词版本 / 模型矩阵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892808"/>
            <a:ext cx="2194560" cy="411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12/12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441448"/>
            <a:ext cx="22402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文档一致性检查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6916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1892808"/>
            <a:ext cx="2194560" cy="411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747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441448"/>
            <a:ext cx="22402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单测用例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1089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310128"/>
            <a:ext cx="2194560" cy="411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858768"/>
            <a:ext cx="22402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条问题账本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31089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0848" y="3310128"/>
            <a:ext cx="2194560" cy="411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7AB6"/>
                </a:solidFill>
                <a:latin typeface="Microsoft YaHei"/>
                <a:ea typeface="Microsoft YaHei"/>
                <a:cs typeface="Microsoft YaHei"/>
              </a:rPr>
              <a:t>R1/R2/R3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3858768"/>
            <a:ext cx="224028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判据先于数据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572000"/>
            <a:ext cx="5303520" cy="7772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翻默认不是「感觉更好」：先冻结判据，缺数据不裁决；最终翻默认登记为所有者决策覆盖门槛，附风险与回滚。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工程化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能跑、能部署、能回归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" y="1929384"/>
            <a:ext cx="310896" cy="54864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075688"/>
            <a:ext cx="292608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monorepo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441448"/>
            <a:ext cx="292608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npm workspaces · 契约包先行构建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9164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2856" y="1929384"/>
            <a:ext cx="310896" cy="54864"/>
          </a:xfrm>
          <a:prstGeom prst="roundRect">
            <a:avLst>
              <a:gd name="adj" fmla="val 50000"/>
            </a:avLst>
          </a:prstGeom>
          <a:solidFill>
            <a:srgbClr val="35D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075688"/>
            <a:ext cx="292608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双数据库后端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441448"/>
            <a:ext cx="292608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SQLite / PG 探择 · worker 同步桥 · 迁移脚本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169164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02168" y="1929384"/>
            <a:ext cx="310896" cy="54864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075688"/>
            <a:ext cx="292608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CI 四门禁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441448"/>
            <a:ext cx="292608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lint / typecheck / test / build + PG 双跑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19272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" y="3557015"/>
            <a:ext cx="310896" cy="54864"/>
          </a:xfrm>
          <a:prstGeom prst="roundRect">
            <a:avLst>
              <a:gd name="adj" fmla="val 50000"/>
            </a:avLst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3703320"/>
            <a:ext cx="292608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4069080"/>
            <a:ext cx="292608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Docker + compose · healthcheck · 数据卷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3319272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62856" y="3557015"/>
            <a:ext cx="310896" cy="54864"/>
          </a:xfrm>
          <a:prstGeom prst="roundRect">
            <a:avLst>
              <a:gd name="adj" fmla="val 50000"/>
            </a:avLst>
          </a:prstGeom>
          <a:solidFill>
            <a:srgbClr val="FF7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3703320"/>
            <a:ext cx="292608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多租户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069080"/>
            <a:ext cx="292608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Session 认证 · user_id 隔离 · 越权 403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4424" y="3319272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02168" y="3557015"/>
            <a:ext cx="310896" cy="54864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3703320"/>
            <a:ext cx="292608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4069080"/>
            <a:ext cx="292608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API Key AES-256-GCM · 调试日志脱敏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开发 4.5 个月：V1 骨架 → Agent 化 → 短剧闭环 → 工程化 → 质量工程（10 月集中 90 余次提交）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没做到的部分，也写进文档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27632"/>
            <a:ext cx="10817352" cy="89611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3736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Agent 工具调用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719072"/>
            <a:ext cx="5577840" cy="685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框架就绪，差「把工具定义发给模型」一跳；当前每阶段实际一次调用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90195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B86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半天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60904"/>
            <a:ext cx="10817352" cy="89611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770632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7AB6"/>
                </a:solidFill>
                <a:latin typeface="Microsoft YaHei"/>
                <a:ea typeface="Microsoft YaHei"/>
                <a:cs typeface="Microsoft YaHei"/>
              </a:rPr>
              <a:t>评测样本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752344"/>
            <a:ext cx="5577840" cy="685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3 本且全为 train，无 holdout；结论只作方向性证据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935224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7AB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FF7AB6"/>
                </a:solidFill>
                <a:latin typeface="Microsoft YaHei"/>
                <a:ea typeface="Microsoft YaHei"/>
                <a:cs typeface="Microsoft YaHei"/>
              </a:rPr>
              <a:t>30–40 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94176"/>
            <a:ext cx="10817352" cy="89611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803904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Phase2 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785615"/>
            <a:ext cx="5577840" cy="685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F1 0.556–0.703，最弱环节；已修一处上下文语义 bug，待 3×3 复核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3968496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5B8C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复核中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27448"/>
            <a:ext cx="10817352" cy="896112"/>
          </a:xfrm>
          <a:prstGeom prst="roundRect">
            <a:avLst>
              <a:gd name="adj" fmla="val 8000"/>
            </a:avLst>
          </a:prstGeom>
          <a:solidFill>
            <a:srgbClr val="141C2F"/>
          </a:solidFill>
          <a:ln w="9525">
            <a:solidFill>
              <a:srgbClr val="2A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837176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PG 实跑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818888"/>
            <a:ext cx="5577840" cy="6858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代码与契约测试就绪，未在真实 PG 联跑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5001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3DDC97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 i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配 DATABASE_URL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讲述原则：主动交代边界，比被问出来加分；每个缺口都给出补齐成本。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4206240" cy="4206240"/>
          </a:xfrm>
          <a:prstGeom prst="ellipse">
            <a:avLst/>
          </a:prstGeom>
          <a:solidFill>
            <a:srgbClr val="5B8C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35D6ED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960120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10789920" cy="56692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按 ROI 排序的四件事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Novel2Screenplay ·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B8C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55648"/>
            <a:ext cx="310896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接通工具调用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21408"/>
            <a:ext cx="9966960" cy="411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半天：补 tools 字段转发 + 修 schema 转换，跑一次真实任务验证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249424"/>
            <a:ext cx="18288" cy="50292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07208"/>
            <a:ext cx="310896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Phase2 3×3 复核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72968"/>
            <a:ext cx="9966960" cy="411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复核已修的角色上下文语义，确认 P2 不再回退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3300984"/>
            <a:ext cx="18288" cy="50292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40479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DDC9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58767"/>
            <a:ext cx="310896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扩样本 + holdout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24527"/>
            <a:ext cx="9966960" cy="411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30–40 本，留出 20%；judge 做盲评校准（ρ ≥ 0.7）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" y="4352544"/>
            <a:ext cx="18288" cy="50292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B86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10327"/>
            <a:ext cx="3108960" cy="292608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PG 联跑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76088"/>
            <a:ext cx="9966960" cy="41148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配 DATABASE_URL，跑契约测试 + 迁移全量 + e2e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4937760" cy="4937760"/>
          </a:xfrm>
          <a:prstGeom prst="ellipse">
            <a:avLst/>
          </a:prstGeom>
          <a:solidFill>
            <a:srgbClr val="5B8C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3DDC9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3200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D6ED"/>
                </a:solidFill>
                <a:latin typeface="Microsoft YaHei"/>
                <a:ea typeface="Microsoft YaHei"/>
                <a:cs typeface="Microsoft YaHei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90472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上下文是核心资产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20240"/>
            <a:ext cx="6400800" cy="3200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三条路径 + 一个决策点 + 预算守卫，收益可测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0720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8892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可靠靠机制不靠小心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18688"/>
            <a:ext cx="6400800" cy="3200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落库 · CAS · 只重跑失败 · 可回放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05656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087368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9EEF9"/>
                </a:solidFill>
                <a:latin typeface="Microsoft YaHei"/>
                <a:ea typeface="Microsoft YaHei"/>
                <a:cs typeface="Microsoft YaHei"/>
              </a:rPr>
              <a:t>质量靠先建度量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517136"/>
            <a:ext cx="6400800" cy="32004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1BE"/>
                </a:solidFill>
                <a:latin typeface="Microsoft YaHei"/>
                <a:ea typeface="Microsoft YaHei"/>
                <a:cs typeface="Microsoft YaHei"/>
              </a:rPr>
              <a:t>金标注 · 3×3 基线 · 预注册判据 · 快照复现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532120"/>
            <a:ext cx="2926080" cy="32004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71500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896"/>
                </a:solidFill>
                <a:latin typeface="Microsoft YaHei"/>
                <a:ea typeface="Microsoft YaHei"/>
                <a:cs typeface="Microsoft YaHei"/>
              </a:rPr>
              <a:t>谢谢 · 细节在 docs/项目成果整理.md 与 docs/答辩提纲.md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